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E959390-3E78-4E4B-B425-D2FC1451E44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73B8E9-12EE-4924-AF50-5F6281576C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2847D9-4404-418A-96B4-A346A7197A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3522E9-DEBF-44DB-9520-E97108E477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CE502F-5815-43E1-A5B9-E82278350D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5B1C93-245E-405A-9A84-21FFE15540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419A93-E552-4313-B17D-9C211EE11D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77C05E-C146-4E4A-9218-D58B0C750A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CEF9B7-14D9-4A12-AD96-47E43C7AC9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BB615D-943E-42DF-BFFC-EC4903787A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FE71BB-A666-4DBE-A28F-725F9DC5EC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81">
                <a:solidFill>
                  <a:srgbClr val="137B86"/>
                </a:solidFill>
                <a:effectLst/>
                <a:uFillTx/>
                <a:latin typeface="Aptos"/>
                <a:ea typeface="Aptos"/>
              </a:rPr>
              <a:t>SMART ATTENDANCE SYSTEM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84080" y="18288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DSB &amp; DB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58600" y="646488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D13BBC-5614-4420-B67E-3BA15234D6AB}" type="slidenum"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0"/>
          <p:cNvSpPr/>
          <p:nvPr/>
        </p:nvSpPr>
        <p:spPr>
          <a:xfrm>
            <a:off x="0" y="0"/>
            <a:ext cx="5943240" cy="6857640"/>
          </a:xfrm>
          <a:prstGeom prst="rect">
            <a:avLst/>
          </a:prstGeom>
          <a:solidFill>
            <a:srgbClr val="142428">
              <a:alpha val="93000"/>
            </a:srgbClr>
          </a:solidFill>
          <a:ln w="12700">
            <a:solidFill>
              <a:srgbClr val="14242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658440" y="603360"/>
            <a:ext cx="1599840" cy="310680"/>
          </a:xfrm>
          <a:prstGeom prst="roundRect">
            <a:avLst>
              <a:gd name="adj" fmla="val 17647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731520" y="672120"/>
            <a:ext cx="1453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71">
                <a:solidFill>
                  <a:srgbClr val="142428"/>
                </a:solidFill>
                <a:effectLst/>
                <a:uFillTx/>
                <a:latin typeface="Aptos"/>
              </a:rPr>
              <a:t>DSB &amp; DB PROJECT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58440" y="1234440"/>
            <a:ext cx="466308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Smart Attendance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System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658440" y="2797920"/>
            <a:ext cx="43887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Using Facial Recognition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658440" y="345636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DDE9EB"/>
                </a:solidFill>
                <a:effectLst/>
                <a:uFillTx/>
                <a:latin typeface="Aptos"/>
              </a:rPr>
              <a:t>An Android-based approach to fast, accurate and accountable attendance management.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658080" y="4754880"/>
            <a:ext cx="4297680" cy="360"/>
          </a:xfrm>
          <a:prstGeom prst="line">
            <a:avLst/>
          </a:prstGeom>
          <a:ln w="12700">
            <a:solidFill>
              <a:srgbClr val="6A8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58440" y="49834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31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Live camera  →  Face match  →  Attendance record</a:t>
            </a:r>
          </a:p>
          <a:p>
            <a:pPr defTabSz="914400">
              <a:lnSpc>
                <a:spcPct val="31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Guide : Khaja Shareef</a:t>
            </a:r>
          </a:p>
        </p:txBody>
      </p:sp>
      <p:sp>
        <p:nvSpPr>
          <p:cNvPr id="24" name="Text 8"/>
          <p:cNvSpPr/>
          <p:nvPr/>
        </p:nvSpPr>
        <p:spPr>
          <a:xfrm>
            <a:off x="658440" y="601668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B8C9CD"/>
                </a:solidFill>
                <a:latin typeface="Aptos"/>
              </a:rPr>
              <a:t>2520090151-Satwika.N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B8C9CD"/>
                </a:solidFill>
                <a:effectLst/>
                <a:uFillTx/>
                <a:latin typeface="Aptos"/>
              </a:rPr>
              <a:t>2520080007-Harsh</a:t>
            </a:r>
            <a:r>
              <a:rPr lang="en-US" sz="1200" dirty="0">
                <a:solidFill>
                  <a:srgbClr val="B8C9CD"/>
                </a:solidFill>
                <a:latin typeface="Aptos"/>
              </a:rPr>
              <a:t>itha.B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B8C9CD"/>
                </a:solidFill>
                <a:effectLst/>
                <a:uFillTx/>
                <a:latin typeface="Aptos"/>
              </a:rPr>
              <a:t>2520080009-Krishnasree.M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10927080" y="6346080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01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What the solution is designed to achieve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548640" y="14814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548640" y="1481400"/>
            <a:ext cx="72720" cy="159984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777240" y="1710000"/>
            <a:ext cx="438480" cy="438480"/>
          </a:xfrm>
          <a:prstGeom prst="ellipse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777240" y="17647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1353240" y="17006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Automate attendance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777240" y="21945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Replace repetitive manual marking with face-based verification.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4370760" y="14814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4370760" y="1481400"/>
            <a:ext cx="72720" cy="1599840"/>
          </a:xfrm>
          <a:prstGeom prst="rect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4599360" y="1710000"/>
            <a:ext cx="438480" cy="438480"/>
          </a:xfrm>
          <a:prstGeom prst="ellipse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4599360" y="17647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175360" y="17006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Recognize in real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599360" y="21945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Detect and identify registered users through a live camera.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8192880" y="14814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8192880" y="1481400"/>
            <a:ext cx="72720" cy="1599840"/>
          </a:xfrm>
          <a:prstGeom prst="rect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8421480" y="1710000"/>
            <a:ext cx="438480" cy="438480"/>
          </a:xfrm>
          <a:prstGeom prst="ellipse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8421480" y="17647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997840" y="17006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Record accurately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421480" y="21945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Store the verified person, date and time automatically.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548640" y="34200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548640" y="3420000"/>
            <a:ext cx="72720" cy="159984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777240" y="3648600"/>
            <a:ext cx="438480" cy="438480"/>
          </a:xfrm>
          <a:prstGeom prst="ellipse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777240" y="3703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1353240" y="36392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Reduce errors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777240" y="41331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Minimize missed entries, duplicate work and proxy attendance.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7"/>
          <p:cNvSpPr/>
          <p:nvPr/>
        </p:nvSpPr>
        <p:spPr>
          <a:xfrm>
            <a:off x="4370760" y="34200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8"/>
          <p:cNvSpPr/>
          <p:nvPr/>
        </p:nvSpPr>
        <p:spPr>
          <a:xfrm>
            <a:off x="4370760" y="3420000"/>
            <a:ext cx="72720" cy="1599840"/>
          </a:xfrm>
          <a:prstGeom prst="rect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9"/>
          <p:cNvSpPr/>
          <p:nvPr/>
        </p:nvSpPr>
        <p:spPr>
          <a:xfrm>
            <a:off x="4599360" y="3648600"/>
            <a:ext cx="438480" cy="438480"/>
          </a:xfrm>
          <a:prstGeom prst="ellipse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4599360" y="3703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1"/>
          <p:cNvSpPr/>
          <p:nvPr/>
        </p:nvSpPr>
        <p:spPr>
          <a:xfrm>
            <a:off x="5175360" y="36392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Secure &amp; synchronize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2"/>
          <p:cNvSpPr/>
          <p:nvPr/>
        </p:nvSpPr>
        <p:spPr>
          <a:xfrm>
            <a:off x="4599360" y="41331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Maintain user and attendance records in a centralized database.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3"/>
          <p:cNvSpPr/>
          <p:nvPr/>
        </p:nvSpPr>
        <p:spPr>
          <a:xfrm>
            <a:off x="8192880" y="3420000"/>
            <a:ext cx="3456000" cy="1599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4"/>
          <p:cNvSpPr/>
          <p:nvPr/>
        </p:nvSpPr>
        <p:spPr>
          <a:xfrm>
            <a:off x="8192880" y="3420000"/>
            <a:ext cx="72720" cy="1599840"/>
          </a:xfrm>
          <a:prstGeom prst="rect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5"/>
          <p:cNvSpPr/>
          <p:nvPr/>
        </p:nvSpPr>
        <p:spPr>
          <a:xfrm>
            <a:off x="8421480" y="3648600"/>
            <a:ext cx="438480" cy="438480"/>
          </a:xfrm>
          <a:prstGeom prst="ellipse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6"/>
          <p:cNvSpPr/>
          <p:nvPr/>
        </p:nvSpPr>
        <p:spPr>
          <a:xfrm>
            <a:off x="8421480" y="3703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7"/>
          <p:cNvSpPr/>
          <p:nvPr/>
        </p:nvSpPr>
        <p:spPr>
          <a:xfrm>
            <a:off x="8997840" y="363924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Enable administration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8"/>
          <p:cNvSpPr/>
          <p:nvPr/>
        </p:nvSpPr>
        <p:spPr>
          <a:xfrm>
            <a:off x="8421480" y="4133160"/>
            <a:ext cx="2998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Support user management, monitoring, reports and analytics.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9"/>
          <p:cNvSpPr/>
          <p:nvPr/>
        </p:nvSpPr>
        <p:spPr>
          <a:xfrm>
            <a:off x="567000" y="562356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DESIGN GOAL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0"/>
          <p:cNvSpPr/>
          <p:nvPr/>
        </p:nvSpPr>
        <p:spPr>
          <a:xfrm>
            <a:off x="1737360" y="55321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Efficient  •  Accurate  •  Scalable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1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Real-time identification • Timestamped records • Centralized reporting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sldNum" idx="5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07E04A-3E8E-4107-A574-E523E61290E8}" type="slidenum"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03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Problem Statement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Manual attendance creates operational friction and weakens record reliability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594360" y="1508760"/>
            <a:ext cx="5028840" cy="4251600"/>
          </a:xfrm>
          <a:prstGeom prst="roundRect">
            <a:avLst>
              <a:gd name="adj" fmla="val 1290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914400" y="18288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30">
                <a:solidFill>
                  <a:srgbClr val="21C4D6"/>
                </a:solidFill>
                <a:effectLst/>
                <a:uFillTx/>
                <a:latin typeface="Aptos"/>
              </a:rPr>
              <a:t>THE CURRENT REALITY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914400" y="2331720"/>
            <a:ext cx="397728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 simple daily task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becomes a recurring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administrative burden.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914400" y="4316040"/>
            <a:ext cx="39315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BCD0D4"/>
                </a:solidFill>
                <a:effectLst/>
                <a:uFillTx/>
                <a:latin typeface="Aptos"/>
              </a:rPr>
              <a:t>The challenge grows with every additional class, employee, register and reporting period.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5989320" y="1508760"/>
            <a:ext cx="5440320" cy="8773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5989320" y="1508760"/>
            <a:ext cx="72720" cy="87732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6217920" y="1728360"/>
            <a:ext cx="498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217920" y="2213280"/>
            <a:ext cx="4983120" cy="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2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Calling names and entering data delays sessions.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5989320" y="2578680"/>
            <a:ext cx="5440320" cy="8773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5989320" y="2578680"/>
            <a:ext cx="72720" cy="877320"/>
          </a:xfrm>
          <a:prstGeom prst="rect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6217920" y="2797920"/>
            <a:ext cx="498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Accuracy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6217920" y="3283200"/>
            <a:ext cx="4983120" cy="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2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Human error produces missing or inconsistent records.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5989320" y="3648600"/>
            <a:ext cx="5440320" cy="8773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5989320" y="3648600"/>
            <a:ext cx="72720" cy="87732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6217920" y="3867840"/>
            <a:ext cx="498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Scale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6217920" y="4353120"/>
            <a:ext cx="4983120" cy="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2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Large groups make verification and follow-up difficult.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5989320" y="4718160"/>
            <a:ext cx="5440320" cy="8773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>
            <a:off x="5989320" y="4718160"/>
            <a:ext cx="72720" cy="877320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6217920" y="4937760"/>
            <a:ext cx="4983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6217920" y="5423040"/>
            <a:ext cx="4983120" cy="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2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Paper and spreadsheets limit monitoring and auditability.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Need: a reliable digital process that identifies people and records attendance automatically.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sldNum" idx="6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7E4B93-A479-4D70-A4BF-396B26ADEDC5}" type="slidenum"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04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Existing System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Typical manual workflow and its practical limitations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594360" y="1600200"/>
            <a:ext cx="2331360" cy="1023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37B86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740520" y="1801440"/>
            <a:ext cx="347040" cy="34704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740520" y="1847160"/>
            <a:ext cx="3470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1161360" y="1764720"/>
            <a:ext cx="1636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Call / sign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1161360" y="207576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Teacher calls names or circulates a register.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2971800" y="1965960"/>
            <a:ext cx="31068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3429000" y="1600200"/>
            <a:ext cx="2331360" cy="1023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37B86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3575160" y="1801440"/>
            <a:ext cx="347040" cy="34704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3575160" y="1847160"/>
            <a:ext cx="3470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3996000" y="1764720"/>
            <a:ext cx="1636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Transcribe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3996000" y="207576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Records move to paper sheets or spreadsheets.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5806440" y="1965960"/>
            <a:ext cx="31068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6263640" y="1600200"/>
            <a:ext cx="2331360" cy="1023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37B86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6409800" y="1801440"/>
            <a:ext cx="347040" cy="34704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6409800" y="1847160"/>
            <a:ext cx="3470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6830640" y="1764720"/>
            <a:ext cx="1636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Verify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6830640" y="207576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Missing entries and disputes are checked manually.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8641080" y="1965960"/>
            <a:ext cx="31068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9098280" y="1600200"/>
            <a:ext cx="2331360" cy="1023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06F5F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9244440" y="1801440"/>
            <a:ext cx="347040" cy="347040"/>
          </a:xfrm>
          <a:prstGeom prst="ellipse">
            <a:avLst/>
          </a:prstGeom>
          <a:solidFill>
            <a:srgbClr val="F06F5F"/>
          </a:solidFill>
          <a:ln w="12700">
            <a:solidFill>
              <a:srgbClr val="F06F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9244440" y="1847160"/>
            <a:ext cx="3470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9665280" y="1764720"/>
            <a:ext cx="1636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9665280" y="207576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Totals and percentages are prepared later.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6"/>
          <p:cNvSpPr/>
          <p:nvPr/>
        </p:nvSpPr>
        <p:spPr>
          <a:xfrm>
            <a:off x="621720" y="3063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Where the process breaks down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7"/>
          <p:cNvSpPr/>
          <p:nvPr/>
        </p:nvSpPr>
        <p:spPr>
          <a:xfrm>
            <a:off x="621720" y="365760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786240" y="377640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SLOW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1792080" y="374904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Repeated every session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0"/>
          <p:cNvSpPr/>
          <p:nvPr/>
        </p:nvSpPr>
        <p:spPr>
          <a:xfrm>
            <a:off x="4389120" y="365760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4553640" y="377640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ERROR-PRONE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5559480" y="374904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Missed or incorrect entries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3"/>
          <p:cNvSpPr/>
          <p:nvPr/>
        </p:nvSpPr>
        <p:spPr>
          <a:xfrm>
            <a:off x="8156520" y="365760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DECE9"/>
          </a:solidFill>
          <a:ln w="12700">
            <a:solidFill>
              <a:srgbClr val="F06F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4"/>
          <p:cNvSpPr/>
          <p:nvPr/>
        </p:nvSpPr>
        <p:spPr>
          <a:xfrm>
            <a:off x="8321040" y="377640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71">
                <a:solidFill>
                  <a:srgbClr val="F06F5F"/>
                </a:solidFill>
                <a:effectLst/>
                <a:uFillTx/>
                <a:latin typeface="Aptos"/>
              </a:rPr>
              <a:t>PROXY RISK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5"/>
          <p:cNvSpPr/>
          <p:nvPr/>
        </p:nvSpPr>
        <p:spPr>
          <a:xfrm>
            <a:off x="9326880" y="374904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Identity is not reliably verified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6"/>
          <p:cNvSpPr/>
          <p:nvPr/>
        </p:nvSpPr>
        <p:spPr>
          <a:xfrm>
            <a:off x="621720" y="461772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7"/>
          <p:cNvSpPr/>
          <p:nvPr/>
        </p:nvSpPr>
        <p:spPr>
          <a:xfrm>
            <a:off x="786240" y="473652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FRAGMENTED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8"/>
          <p:cNvSpPr/>
          <p:nvPr/>
        </p:nvSpPr>
        <p:spPr>
          <a:xfrm>
            <a:off x="1792080" y="470916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Paper and files are hard to track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9"/>
          <p:cNvSpPr/>
          <p:nvPr/>
        </p:nvSpPr>
        <p:spPr>
          <a:xfrm>
            <a:off x="4389120" y="461772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0"/>
          <p:cNvSpPr/>
          <p:nvPr/>
        </p:nvSpPr>
        <p:spPr>
          <a:xfrm>
            <a:off x="4553640" y="473652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DELAYED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1"/>
          <p:cNvSpPr/>
          <p:nvPr/>
        </p:nvSpPr>
        <p:spPr>
          <a:xfrm>
            <a:off x="5559480" y="470916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No live attendance view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2"/>
          <p:cNvSpPr/>
          <p:nvPr/>
        </p:nvSpPr>
        <p:spPr>
          <a:xfrm>
            <a:off x="8156520" y="4617720"/>
            <a:ext cx="342864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3"/>
          <p:cNvSpPr/>
          <p:nvPr/>
        </p:nvSpPr>
        <p:spPr>
          <a:xfrm>
            <a:off x="8321040" y="473652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MANUAL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4"/>
          <p:cNvSpPr/>
          <p:nvPr/>
        </p:nvSpPr>
        <p:spPr>
          <a:xfrm>
            <a:off x="9326880" y="470916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Reports require extra effort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5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Manual identity confirmation is the central weakness.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sldNum" idx="7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EC7F96-C850-4B8A-9F1B-766EA39FF71A}" type="slidenum"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05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Proposed System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Facial verification turns attendance into a controlled digital event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658440" y="1490400"/>
            <a:ext cx="502560" cy="50256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658440" y="162756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1371600" y="144468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1C4D6"/>
                </a:solidFill>
                <a:effectLst/>
                <a:uFillTx/>
                <a:latin typeface="Aptos"/>
              </a:rPr>
              <a:t>REGISTER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1371600" y="1755720"/>
            <a:ext cx="40687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Create a profile and capture facial data in advance.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905040" y="2011680"/>
            <a:ext cx="360" cy="603360"/>
          </a:xfrm>
          <a:prstGeom prst="line">
            <a:avLst/>
          </a:prstGeom>
          <a:ln w="25400">
            <a:solidFill>
              <a:srgbClr val="D6E2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658440" y="2624400"/>
            <a:ext cx="502560" cy="50256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658440" y="276156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1371600" y="257868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1C4D6"/>
                </a:solidFill>
                <a:effectLst/>
                <a:uFillTx/>
                <a:latin typeface="Aptos"/>
              </a:rPr>
              <a:t>RECOGNIZE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1371600" y="2889360"/>
            <a:ext cx="40687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Match the live face with a registered identity.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2"/>
          <p:cNvSpPr/>
          <p:nvPr/>
        </p:nvSpPr>
        <p:spPr>
          <a:xfrm>
            <a:off x="905040" y="3145320"/>
            <a:ext cx="360" cy="603720"/>
          </a:xfrm>
          <a:prstGeom prst="line">
            <a:avLst/>
          </a:prstGeom>
          <a:ln w="25400">
            <a:solidFill>
              <a:srgbClr val="D6E2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3"/>
          <p:cNvSpPr/>
          <p:nvPr/>
        </p:nvSpPr>
        <p:spPr>
          <a:xfrm>
            <a:off x="658440" y="3758040"/>
            <a:ext cx="502560" cy="502560"/>
          </a:xfrm>
          <a:prstGeom prst="ellipse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658440" y="3895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5"/>
          <p:cNvSpPr/>
          <p:nvPr/>
        </p:nvSpPr>
        <p:spPr>
          <a:xfrm>
            <a:off x="1371600" y="37123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1C4D6"/>
                </a:solidFill>
                <a:effectLst/>
                <a:uFillTx/>
                <a:latin typeface="Aptos"/>
              </a:rPr>
              <a:t>RECORD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6"/>
          <p:cNvSpPr/>
          <p:nvPr/>
        </p:nvSpPr>
        <p:spPr>
          <a:xfrm>
            <a:off x="1371600" y="4023360"/>
            <a:ext cx="40687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Write the attendance entry with date and time.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7"/>
          <p:cNvSpPr/>
          <p:nvPr/>
        </p:nvSpPr>
        <p:spPr>
          <a:xfrm>
            <a:off x="905040" y="4279320"/>
            <a:ext cx="360" cy="603360"/>
          </a:xfrm>
          <a:prstGeom prst="line">
            <a:avLst/>
          </a:prstGeom>
          <a:ln w="25400">
            <a:solidFill>
              <a:srgbClr val="D6E2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8"/>
          <p:cNvSpPr/>
          <p:nvPr/>
        </p:nvSpPr>
        <p:spPr>
          <a:xfrm>
            <a:off x="658440" y="4892040"/>
            <a:ext cx="502560" cy="50256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9"/>
          <p:cNvSpPr/>
          <p:nvPr/>
        </p:nvSpPr>
        <p:spPr>
          <a:xfrm>
            <a:off x="658440" y="5029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0"/>
          <p:cNvSpPr/>
          <p:nvPr/>
        </p:nvSpPr>
        <p:spPr>
          <a:xfrm>
            <a:off x="1371600" y="48463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1C4D6"/>
                </a:solidFill>
                <a:effectLst/>
                <a:uFillTx/>
                <a:latin typeface="Aptos"/>
              </a:rPr>
              <a:t>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1"/>
          <p:cNvSpPr/>
          <p:nvPr/>
        </p:nvSpPr>
        <p:spPr>
          <a:xfrm>
            <a:off x="1371600" y="5157360"/>
            <a:ext cx="40687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Monitor records and generate reports from the dashboard.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2"/>
          <p:cNvSpPr/>
          <p:nvPr/>
        </p:nvSpPr>
        <p:spPr>
          <a:xfrm>
            <a:off x="5989320" y="1417320"/>
            <a:ext cx="5394600" cy="4525920"/>
          </a:xfrm>
          <a:prstGeom prst="roundRect">
            <a:avLst>
              <a:gd name="adj" fmla="val 1212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3"/>
          <p:cNvSpPr/>
          <p:nvPr/>
        </p:nvSpPr>
        <p:spPr>
          <a:xfrm>
            <a:off x="6355080" y="178308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11">
                <a:solidFill>
                  <a:srgbClr val="21C4D6"/>
                </a:solidFill>
                <a:effectLst/>
                <a:uFillTx/>
                <a:latin typeface="Aptos"/>
              </a:rPr>
              <a:t>EXPECTED OPERATIONAL CHANGE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4"/>
          <p:cNvSpPr/>
          <p:nvPr/>
        </p:nvSpPr>
        <p:spPr>
          <a:xfrm>
            <a:off x="6355080" y="23317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FC3C7"/>
                </a:solidFill>
                <a:effectLst/>
                <a:uFillTx/>
                <a:latin typeface="Aptos"/>
              </a:rPr>
              <a:t>Manual marking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5"/>
          <p:cNvSpPr/>
          <p:nvPr/>
        </p:nvSpPr>
        <p:spPr>
          <a:xfrm>
            <a:off x="8138160" y="232272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6"/>
          <p:cNvSpPr/>
          <p:nvPr/>
        </p:nvSpPr>
        <p:spPr>
          <a:xfrm>
            <a:off x="8549640" y="233172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Automatic verification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6355080" y="29534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FC3C7"/>
                </a:solidFill>
                <a:effectLst/>
                <a:uFillTx/>
                <a:latin typeface="Aptos"/>
              </a:rPr>
              <a:t>Delayed entry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8"/>
          <p:cNvSpPr/>
          <p:nvPr/>
        </p:nvSpPr>
        <p:spPr>
          <a:xfrm>
            <a:off x="8138160" y="294444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9"/>
          <p:cNvSpPr/>
          <p:nvPr/>
        </p:nvSpPr>
        <p:spPr>
          <a:xfrm>
            <a:off x="8549640" y="295344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Real-time recording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0"/>
          <p:cNvSpPr/>
          <p:nvPr/>
        </p:nvSpPr>
        <p:spPr>
          <a:xfrm>
            <a:off x="6355080" y="357516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FC3C7"/>
                </a:solidFill>
                <a:effectLst/>
                <a:uFillTx/>
                <a:latin typeface="Aptos"/>
              </a:rPr>
              <a:t>Paper / sheets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1"/>
          <p:cNvSpPr/>
          <p:nvPr/>
        </p:nvSpPr>
        <p:spPr>
          <a:xfrm>
            <a:off x="8138160" y="356616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2"/>
          <p:cNvSpPr/>
          <p:nvPr/>
        </p:nvSpPr>
        <p:spPr>
          <a:xfrm>
            <a:off x="8549640" y="35751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Central database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3"/>
          <p:cNvSpPr/>
          <p:nvPr/>
        </p:nvSpPr>
        <p:spPr>
          <a:xfrm>
            <a:off x="6355080" y="41972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FC3C7"/>
                </a:solidFill>
                <a:effectLst/>
                <a:uFillTx/>
                <a:latin typeface="Aptos"/>
              </a:rPr>
              <a:t>Manual totals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4"/>
          <p:cNvSpPr/>
          <p:nvPr/>
        </p:nvSpPr>
        <p:spPr>
          <a:xfrm>
            <a:off x="8138160" y="418788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5"/>
          <p:cNvSpPr/>
          <p:nvPr/>
        </p:nvSpPr>
        <p:spPr>
          <a:xfrm>
            <a:off x="8549640" y="419724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Automated reports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6"/>
          <p:cNvSpPr/>
          <p:nvPr/>
        </p:nvSpPr>
        <p:spPr>
          <a:xfrm>
            <a:off x="6355080" y="481896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FC3C7"/>
                </a:solidFill>
                <a:effectLst/>
                <a:uFillTx/>
                <a:latin typeface="Aptos"/>
              </a:rPr>
              <a:t>Limited visibility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7"/>
          <p:cNvSpPr/>
          <p:nvPr/>
        </p:nvSpPr>
        <p:spPr>
          <a:xfrm>
            <a:off x="8138160" y="480960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8"/>
          <p:cNvSpPr/>
          <p:nvPr/>
        </p:nvSpPr>
        <p:spPr>
          <a:xfrm>
            <a:off x="8549640" y="48189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Live administrator view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9"/>
          <p:cNvSpPr/>
          <p:nvPr/>
        </p:nvSpPr>
        <p:spPr>
          <a:xfrm>
            <a:off x="6355080" y="5440680"/>
            <a:ext cx="4434480" cy="292320"/>
          </a:xfrm>
          <a:prstGeom prst="roundRect">
            <a:avLst>
              <a:gd name="adj" fmla="val 15625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0"/>
          <p:cNvSpPr/>
          <p:nvPr/>
        </p:nvSpPr>
        <p:spPr>
          <a:xfrm>
            <a:off x="6446520" y="5518440"/>
            <a:ext cx="42516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42428"/>
                </a:solidFill>
                <a:effectLst/>
                <a:uFillTx/>
                <a:latin typeface="Aptos"/>
              </a:rPr>
              <a:t>Faster • More accurate • Easier to audit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1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Real-time identification • Timestamped records • Centralized reporting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8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123253-1D23-4187-9354-1254CFC06BEE}" type="slidenum"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06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System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End-to-end data flow from camera capture to administrative insight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38412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82296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7B86"/>
                </a:solidFill>
                <a:effectLst/>
                <a:uFillTx/>
                <a:latin typeface="Aptos"/>
              </a:rPr>
              <a:t>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49392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User / Student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49392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Presents face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183780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8"/>
          <p:cNvSpPr/>
          <p:nvPr/>
        </p:nvSpPr>
        <p:spPr>
          <a:xfrm>
            <a:off x="204840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248724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7B86"/>
                </a:solidFill>
                <a:effectLst/>
                <a:uFillTx/>
                <a:latin typeface="Aptos"/>
              </a:rPr>
              <a:t>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215784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Live Camera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215784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Captures frame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2"/>
          <p:cNvSpPr/>
          <p:nvPr/>
        </p:nvSpPr>
        <p:spPr>
          <a:xfrm>
            <a:off x="350208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371232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415152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3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382212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Face Engine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382212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FD4D8"/>
                </a:solidFill>
                <a:effectLst/>
                <a:uFillTx/>
                <a:latin typeface="Aptos"/>
              </a:rPr>
              <a:t>Detects + matches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7"/>
          <p:cNvSpPr/>
          <p:nvPr/>
        </p:nvSpPr>
        <p:spPr>
          <a:xfrm>
            <a:off x="516636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8"/>
          <p:cNvSpPr/>
          <p:nvPr/>
        </p:nvSpPr>
        <p:spPr>
          <a:xfrm>
            <a:off x="537660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9"/>
          <p:cNvSpPr/>
          <p:nvPr/>
        </p:nvSpPr>
        <p:spPr>
          <a:xfrm>
            <a:off x="581544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7B86"/>
                </a:solidFill>
                <a:effectLst/>
                <a:uFillTx/>
                <a:latin typeface="Aptos"/>
              </a:rPr>
              <a:t>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0"/>
          <p:cNvSpPr/>
          <p:nvPr/>
        </p:nvSpPr>
        <p:spPr>
          <a:xfrm>
            <a:off x="548640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Attendance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548640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Validates event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2"/>
          <p:cNvSpPr/>
          <p:nvPr/>
        </p:nvSpPr>
        <p:spPr>
          <a:xfrm>
            <a:off x="683064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3"/>
          <p:cNvSpPr/>
          <p:nvPr/>
        </p:nvSpPr>
        <p:spPr>
          <a:xfrm>
            <a:off x="704088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4"/>
          <p:cNvSpPr/>
          <p:nvPr/>
        </p:nvSpPr>
        <p:spPr>
          <a:xfrm>
            <a:off x="747972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7B86"/>
                </a:solidFill>
                <a:effectLst/>
                <a:uFillTx/>
                <a:latin typeface="Aptos"/>
              </a:rPr>
              <a:t>5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5"/>
          <p:cNvSpPr/>
          <p:nvPr/>
        </p:nvSpPr>
        <p:spPr>
          <a:xfrm>
            <a:off x="715068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MongoDB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6"/>
          <p:cNvSpPr/>
          <p:nvPr/>
        </p:nvSpPr>
        <p:spPr>
          <a:xfrm>
            <a:off x="715068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Stores record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7"/>
          <p:cNvSpPr/>
          <p:nvPr/>
        </p:nvSpPr>
        <p:spPr>
          <a:xfrm>
            <a:off x="849492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8"/>
          <p:cNvSpPr/>
          <p:nvPr/>
        </p:nvSpPr>
        <p:spPr>
          <a:xfrm>
            <a:off x="870516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9"/>
          <p:cNvSpPr/>
          <p:nvPr/>
        </p:nvSpPr>
        <p:spPr>
          <a:xfrm>
            <a:off x="914400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7B86"/>
                </a:solidFill>
                <a:effectLst/>
                <a:uFillTx/>
                <a:latin typeface="Aptos"/>
              </a:rPr>
              <a:t>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0"/>
          <p:cNvSpPr/>
          <p:nvPr/>
        </p:nvSpPr>
        <p:spPr>
          <a:xfrm>
            <a:off x="881496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Admin Portal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1"/>
          <p:cNvSpPr/>
          <p:nvPr/>
        </p:nvSpPr>
        <p:spPr>
          <a:xfrm>
            <a:off x="881496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Monitors + manages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2"/>
          <p:cNvSpPr/>
          <p:nvPr/>
        </p:nvSpPr>
        <p:spPr>
          <a:xfrm>
            <a:off x="10158840" y="2597040"/>
            <a:ext cx="164160" cy="273960"/>
          </a:xfrm>
          <a:prstGeom prst="chevron">
            <a:avLst>
              <a:gd name="adj" fmla="val 50000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3"/>
          <p:cNvSpPr/>
          <p:nvPr/>
        </p:nvSpPr>
        <p:spPr>
          <a:xfrm>
            <a:off x="10369440" y="2057400"/>
            <a:ext cx="141696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4"/>
          <p:cNvSpPr/>
          <p:nvPr/>
        </p:nvSpPr>
        <p:spPr>
          <a:xfrm>
            <a:off x="10808280" y="2221920"/>
            <a:ext cx="52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7B86"/>
                </a:solidFill>
                <a:effectLst/>
                <a:uFillTx/>
                <a:latin typeface="Aptos"/>
              </a:rPr>
              <a:t>7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5"/>
          <p:cNvSpPr/>
          <p:nvPr/>
        </p:nvSpPr>
        <p:spPr>
          <a:xfrm>
            <a:off x="10478880" y="269748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Reports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6"/>
          <p:cNvSpPr/>
          <p:nvPr/>
        </p:nvSpPr>
        <p:spPr>
          <a:xfrm>
            <a:off x="10478880" y="3054240"/>
            <a:ext cx="1197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Summarizes data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7"/>
          <p:cNvSpPr/>
          <p:nvPr/>
        </p:nvSpPr>
        <p:spPr>
          <a:xfrm>
            <a:off x="7744680" y="3502080"/>
            <a:ext cx="360" cy="1005840"/>
          </a:xfrm>
          <a:prstGeom prst="line">
            <a:avLst/>
          </a:prstGeom>
          <a:ln w="25400">
            <a:solidFill>
              <a:srgbClr val="25A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8"/>
          <p:cNvSpPr/>
          <p:nvPr/>
        </p:nvSpPr>
        <p:spPr>
          <a:xfrm>
            <a:off x="5715000" y="4590360"/>
            <a:ext cx="4068720" cy="914040"/>
          </a:xfrm>
          <a:prstGeom prst="roundRect">
            <a:avLst>
              <a:gd name="adj" fmla="val 4000"/>
            </a:avLst>
          </a:prstGeom>
          <a:solidFill>
            <a:srgbClr val="E6F6EF"/>
          </a:solidFill>
          <a:ln w="12700">
            <a:solidFill>
              <a:srgbClr val="25A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9"/>
          <p:cNvSpPr/>
          <p:nvPr/>
        </p:nvSpPr>
        <p:spPr>
          <a:xfrm>
            <a:off x="5989320" y="4754880"/>
            <a:ext cx="1965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5A578"/>
                </a:solidFill>
                <a:effectLst/>
                <a:uFillTx/>
                <a:latin typeface="Aptos"/>
              </a:rPr>
              <a:t>Stored attendance record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0"/>
          <p:cNvSpPr/>
          <p:nvPr/>
        </p:nvSpPr>
        <p:spPr>
          <a:xfrm>
            <a:off x="5989320" y="5102280"/>
            <a:ext cx="3520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User ID  •  Date  •  Time  •  Verification result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1"/>
          <p:cNvSpPr/>
          <p:nvPr/>
        </p:nvSpPr>
        <p:spPr>
          <a:xfrm>
            <a:off x="685800" y="4251960"/>
            <a:ext cx="4023000" cy="1252440"/>
          </a:xfrm>
          <a:prstGeom prst="roundRect">
            <a:avLst>
              <a:gd name="adj" fmla="val 2920"/>
            </a:avLst>
          </a:prstGeom>
          <a:solidFill>
            <a:srgbClr val="DDF7F8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2"/>
          <p:cNvSpPr/>
          <p:nvPr/>
        </p:nvSpPr>
        <p:spPr>
          <a:xfrm>
            <a:off x="960120" y="448056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37B86"/>
                </a:solidFill>
                <a:effectLst/>
                <a:uFillTx/>
                <a:latin typeface="Aptos"/>
              </a:rPr>
              <a:t>Practical safeguard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3"/>
          <p:cNvSpPr/>
          <p:nvPr/>
        </p:nvSpPr>
        <p:spPr>
          <a:xfrm>
            <a:off x="960120" y="4846320"/>
            <a:ext cx="3474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Only a successful match should create an attendance event; uncertain faces are flagged for review.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4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Architecture separates capture, recognition, storage and reporting for easier maintenance.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sldNum" idx="9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7F4A37-D73D-4086-A104-D708BA3A48AB}" type="slidenum"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07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Technology Stack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A practical web-and-vision stack for the attendance workflow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548640" y="1463040"/>
            <a:ext cx="254160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749880" y="1664280"/>
            <a:ext cx="2139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INTERFACE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749880" y="2030040"/>
            <a:ext cx="2139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HTML • CSS • JavaScript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749880" y="251460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User-facing attendance and administration screens.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3364920" y="1463040"/>
            <a:ext cx="254160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3566160" y="1664280"/>
            <a:ext cx="2139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BACKEND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3566160" y="2030040"/>
            <a:ext cx="2139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Python • Flask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0"/>
          <p:cNvSpPr/>
          <p:nvPr/>
        </p:nvSpPr>
        <p:spPr>
          <a:xfrm>
            <a:off x="3566160" y="251460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Application logic, requests and service coordination.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1"/>
          <p:cNvSpPr/>
          <p:nvPr/>
        </p:nvSpPr>
        <p:spPr>
          <a:xfrm>
            <a:off x="6181200" y="1463040"/>
            <a:ext cx="2541600" cy="1755360"/>
          </a:xfrm>
          <a:prstGeom prst="roundRect">
            <a:avLst>
              <a:gd name="adj" fmla="val 2604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2"/>
          <p:cNvSpPr/>
          <p:nvPr/>
        </p:nvSpPr>
        <p:spPr>
          <a:xfrm>
            <a:off x="6382440" y="1664280"/>
            <a:ext cx="2139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21C4D6"/>
                </a:solidFill>
                <a:effectLst/>
                <a:uFillTx/>
                <a:latin typeface="Aptos"/>
              </a:rPr>
              <a:t>FACE AI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6382440" y="2030040"/>
            <a:ext cx="2139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OpenCV • Face Recognition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6382440" y="251460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BCD0D4"/>
                </a:solidFill>
                <a:effectLst/>
                <a:uFillTx/>
                <a:latin typeface="Aptos"/>
              </a:rPr>
              <a:t>Detection, encoding comparison and identification.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5"/>
          <p:cNvSpPr/>
          <p:nvPr/>
        </p:nvSpPr>
        <p:spPr>
          <a:xfrm>
            <a:off x="8997840" y="1463040"/>
            <a:ext cx="254160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6"/>
          <p:cNvSpPr/>
          <p:nvPr/>
        </p:nvSpPr>
        <p:spPr>
          <a:xfrm>
            <a:off x="9198720" y="1664280"/>
            <a:ext cx="2139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DATABASE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7"/>
          <p:cNvSpPr/>
          <p:nvPr/>
        </p:nvSpPr>
        <p:spPr>
          <a:xfrm>
            <a:off x="9198720" y="2030040"/>
            <a:ext cx="2139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MongoDB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8"/>
          <p:cNvSpPr/>
          <p:nvPr/>
        </p:nvSpPr>
        <p:spPr>
          <a:xfrm>
            <a:off x="9198720" y="2514600"/>
            <a:ext cx="2139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Student profiles, face identifiers and attendance records.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9"/>
          <p:cNvSpPr/>
          <p:nvPr/>
        </p:nvSpPr>
        <p:spPr>
          <a:xfrm>
            <a:off x="1481400" y="3730680"/>
            <a:ext cx="281592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0"/>
          <p:cNvSpPr/>
          <p:nvPr/>
        </p:nvSpPr>
        <p:spPr>
          <a:xfrm>
            <a:off x="1682640" y="3931920"/>
            <a:ext cx="2413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CONNECTIVITY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1"/>
          <p:cNvSpPr/>
          <p:nvPr/>
        </p:nvSpPr>
        <p:spPr>
          <a:xfrm>
            <a:off x="1682640" y="4297680"/>
            <a:ext cx="2413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PyMongo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2"/>
          <p:cNvSpPr/>
          <p:nvPr/>
        </p:nvSpPr>
        <p:spPr>
          <a:xfrm>
            <a:off x="1682640" y="478224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Database access and record operations from Flask.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3"/>
          <p:cNvSpPr/>
          <p:nvPr/>
        </p:nvSpPr>
        <p:spPr>
          <a:xfrm>
            <a:off x="4608720" y="3730680"/>
            <a:ext cx="281592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4"/>
          <p:cNvSpPr/>
          <p:nvPr/>
        </p:nvSpPr>
        <p:spPr>
          <a:xfrm>
            <a:off x="4809600" y="3931920"/>
            <a:ext cx="2413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HARDWARE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5"/>
          <p:cNvSpPr/>
          <p:nvPr/>
        </p:nvSpPr>
        <p:spPr>
          <a:xfrm>
            <a:off x="4809600" y="4297680"/>
            <a:ext cx="2413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Webcam / CCTV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6"/>
          <p:cNvSpPr/>
          <p:nvPr/>
        </p:nvSpPr>
        <p:spPr>
          <a:xfrm>
            <a:off x="4809600" y="478224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Real-time image capture at the attendance point.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7"/>
          <p:cNvSpPr/>
          <p:nvPr/>
        </p:nvSpPr>
        <p:spPr>
          <a:xfrm>
            <a:off x="7735680" y="3730680"/>
            <a:ext cx="281592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8"/>
          <p:cNvSpPr/>
          <p:nvPr/>
        </p:nvSpPr>
        <p:spPr>
          <a:xfrm>
            <a:off x="7936920" y="3931920"/>
            <a:ext cx="2413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DEVELOPMENT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9"/>
          <p:cNvSpPr/>
          <p:nvPr/>
        </p:nvSpPr>
        <p:spPr>
          <a:xfrm>
            <a:off x="7936920" y="4297680"/>
            <a:ext cx="2413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Visual Studio Code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0"/>
          <p:cNvSpPr/>
          <p:nvPr/>
        </p:nvSpPr>
        <p:spPr>
          <a:xfrm>
            <a:off x="7936920" y="478224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Coding, testing and project development.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1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Each technology supports a distinct layer: interface, logic, recognition, persistence or capture.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sldNum" idx="10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5C7EC-BF75-4ADB-A8B8-B4CBD071D70E}" type="slidenum"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08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Working of the System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The recognition session follows a controlled, repeatable sequence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1280160" y="1673280"/>
            <a:ext cx="658080" cy="65808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128016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1965960" y="2002320"/>
            <a:ext cx="1581840" cy="360"/>
          </a:xfrm>
          <a:prstGeom prst="line">
            <a:avLst/>
          </a:prstGeom>
          <a:ln w="38100">
            <a:solidFill>
              <a:srgbClr val="21C4D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65844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CAPTURE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65844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Camera reads a live frame.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8"/>
          <p:cNvSpPr/>
          <p:nvPr/>
        </p:nvSpPr>
        <p:spPr>
          <a:xfrm>
            <a:off x="3557160" y="1673280"/>
            <a:ext cx="658080" cy="65808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9"/>
          <p:cNvSpPr/>
          <p:nvPr/>
        </p:nvSpPr>
        <p:spPr>
          <a:xfrm>
            <a:off x="355716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0"/>
          <p:cNvSpPr/>
          <p:nvPr/>
        </p:nvSpPr>
        <p:spPr>
          <a:xfrm>
            <a:off x="4242600" y="2002320"/>
            <a:ext cx="1581840" cy="360"/>
          </a:xfrm>
          <a:prstGeom prst="line">
            <a:avLst/>
          </a:prstGeom>
          <a:ln w="38100">
            <a:solidFill>
              <a:srgbClr val="21C4D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293508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DETECT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293508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OpenCV locates the face.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5833800" y="1673280"/>
            <a:ext cx="658080" cy="65808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583380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5"/>
          <p:cNvSpPr/>
          <p:nvPr/>
        </p:nvSpPr>
        <p:spPr>
          <a:xfrm>
            <a:off x="6519600" y="2002320"/>
            <a:ext cx="1581840" cy="360"/>
          </a:xfrm>
          <a:prstGeom prst="line">
            <a:avLst/>
          </a:prstGeom>
          <a:ln w="38100">
            <a:solidFill>
              <a:srgbClr val="21C4D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521208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RECOGNIZE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521208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Face encoding is compared.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8110800" y="1673280"/>
            <a:ext cx="658080" cy="658080"/>
          </a:xfrm>
          <a:prstGeom prst="ellipse">
            <a:avLst/>
          </a:prstGeom>
          <a:solidFill>
            <a:srgbClr val="137B86"/>
          </a:solidFill>
          <a:ln w="12700">
            <a:solidFill>
              <a:srgbClr val="137B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9"/>
          <p:cNvSpPr/>
          <p:nvPr/>
        </p:nvSpPr>
        <p:spPr>
          <a:xfrm>
            <a:off x="811080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0"/>
          <p:cNvSpPr/>
          <p:nvPr/>
        </p:nvSpPr>
        <p:spPr>
          <a:xfrm>
            <a:off x="8796240" y="2002320"/>
            <a:ext cx="1582200" cy="360"/>
          </a:xfrm>
          <a:prstGeom prst="line">
            <a:avLst/>
          </a:prstGeom>
          <a:ln w="38100">
            <a:solidFill>
              <a:srgbClr val="21C4D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1"/>
          <p:cNvSpPr/>
          <p:nvPr/>
        </p:nvSpPr>
        <p:spPr>
          <a:xfrm>
            <a:off x="748908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99">
                <a:solidFill>
                  <a:srgbClr val="137B86"/>
                </a:solidFill>
                <a:effectLst/>
                <a:uFillTx/>
                <a:latin typeface="Aptos"/>
              </a:rPr>
              <a:t>VERIFY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2"/>
          <p:cNvSpPr/>
          <p:nvPr/>
        </p:nvSpPr>
        <p:spPr>
          <a:xfrm>
            <a:off x="748908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Registered identity is confirmed.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3"/>
          <p:cNvSpPr/>
          <p:nvPr/>
        </p:nvSpPr>
        <p:spPr>
          <a:xfrm>
            <a:off x="10387440" y="1673280"/>
            <a:ext cx="658080" cy="658080"/>
          </a:xfrm>
          <a:prstGeom prst="ellipse">
            <a:avLst/>
          </a:prstGeom>
          <a:solidFill>
            <a:srgbClr val="25A578"/>
          </a:solidFill>
          <a:ln w="12700">
            <a:solidFill>
              <a:srgbClr val="25A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4"/>
          <p:cNvSpPr/>
          <p:nvPr/>
        </p:nvSpPr>
        <p:spPr>
          <a:xfrm>
            <a:off x="10387440" y="1874520"/>
            <a:ext cx="658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5"/>
          <p:cNvSpPr/>
          <p:nvPr/>
        </p:nvSpPr>
        <p:spPr>
          <a:xfrm>
            <a:off x="9765720" y="26060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99">
                <a:solidFill>
                  <a:srgbClr val="25A578"/>
                </a:solidFill>
                <a:effectLst/>
                <a:uFillTx/>
                <a:latin typeface="Aptos"/>
              </a:rPr>
              <a:t>RECORD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6"/>
          <p:cNvSpPr/>
          <p:nvPr/>
        </p:nvSpPr>
        <p:spPr>
          <a:xfrm>
            <a:off x="9765720" y="3017520"/>
            <a:ext cx="1901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Attendance is saved in MongoDB.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7"/>
          <p:cNvSpPr/>
          <p:nvPr/>
        </p:nvSpPr>
        <p:spPr>
          <a:xfrm>
            <a:off x="658440" y="4224600"/>
            <a:ext cx="6629040" cy="112428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8"/>
          <p:cNvSpPr/>
          <p:nvPr/>
        </p:nvSpPr>
        <p:spPr>
          <a:xfrm>
            <a:off x="932760" y="4480560"/>
            <a:ext cx="1051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A578"/>
                </a:solidFill>
                <a:effectLst/>
                <a:uFillTx/>
                <a:latin typeface="Aptos"/>
              </a:rPr>
              <a:t>If matched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9"/>
          <p:cNvSpPr/>
          <p:nvPr/>
        </p:nvSpPr>
        <p:spPr>
          <a:xfrm>
            <a:off x="2011680" y="4443840"/>
            <a:ext cx="5166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Create one timestamped attendance entry and show confirmation.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0"/>
          <p:cNvSpPr/>
          <p:nvPr/>
        </p:nvSpPr>
        <p:spPr>
          <a:xfrm>
            <a:off x="2011680" y="4846320"/>
            <a:ext cx="5211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Duplicate checks can prevent repeated marking in the same session.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1"/>
          <p:cNvSpPr/>
          <p:nvPr/>
        </p:nvSpPr>
        <p:spPr>
          <a:xfrm>
            <a:off x="7543800" y="4224600"/>
            <a:ext cx="3977280" cy="1124280"/>
          </a:xfrm>
          <a:prstGeom prst="roundRect">
            <a:avLst>
              <a:gd name="adj" fmla="val 4065"/>
            </a:avLst>
          </a:prstGeom>
          <a:solidFill>
            <a:srgbClr val="FDECE9"/>
          </a:solidFill>
          <a:ln w="12700">
            <a:solidFill>
              <a:srgbClr val="F06F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2"/>
          <p:cNvSpPr/>
          <p:nvPr/>
        </p:nvSpPr>
        <p:spPr>
          <a:xfrm>
            <a:off x="7818120" y="448056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06F5F"/>
                </a:solidFill>
                <a:effectLst/>
                <a:uFillTx/>
                <a:latin typeface="Aptos"/>
              </a:rPr>
              <a:t>If uncertain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3"/>
          <p:cNvSpPr/>
          <p:nvPr/>
        </p:nvSpPr>
        <p:spPr>
          <a:xfrm>
            <a:off x="9098280" y="4370760"/>
            <a:ext cx="21027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Do not mark automatically; request another scan or administrator review.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4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Camera → Detection → Recognition → Verification → MongoDB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sldNum" idx="11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4BABB8-10F6-4741-8063-C51E0AF47232}" type="slidenum"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502920" y="567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09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1078920" y="48456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Key Features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1078920" y="9874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Core capabilities mapped to everyday attendance operations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594360" y="141732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795600" y="16185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868680" y="168696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LIVE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1618560" y="16185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Real-time recognition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7"/>
          <p:cNvSpPr/>
          <p:nvPr/>
        </p:nvSpPr>
        <p:spPr>
          <a:xfrm>
            <a:off x="795600" y="217620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Identify registered users from a live camera feed.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8"/>
          <p:cNvSpPr/>
          <p:nvPr/>
        </p:nvSpPr>
        <p:spPr>
          <a:xfrm>
            <a:off x="4389120" y="141732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"/>
          <p:cNvSpPr/>
          <p:nvPr/>
        </p:nvSpPr>
        <p:spPr>
          <a:xfrm>
            <a:off x="4590360" y="16185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4663440" y="168696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AUTO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1"/>
          <p:cNvSpPr/>
          <p:nvPr/>
        </p:nvSpPr>
        <p:spPr>
          <a:xfrm>
            <a:off x="5413320" y="16185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Automatic marking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2"/>
          <p:cNvSpPr/>
          <p:nvPr/>
        </p:nvSpPr>
        <p:spPr>
          <a:xfrm>
            <a:off x="4590360" y="217620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Create attendance without manual name calling.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3"/>
          <p:cNvSpPr/>
          <p:nvPr/>
        </p:nvSpPr>
        <p:spPr>
          <a:xfrm>
            <a:off x="8183880" y="141732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4"/>
          <p:cNvSpPr/>
          <p:nvPr/>
        </p:nvSpPr>
        <p:spPr>
          <a:xfrm>
            <a:off x="8385120" y="16185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5"/>
          <p:cNvSpPr/>
          <p:nvPr/>
        </p:nvSpPr>
        <p:spPr>
          <a:xfrm>
            <a:off x="8458200" y="168696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TIME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9208080" y="16185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Date &amp; time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7"/>
          <p:cNvSpPr/>
          <p:nvPr/>
        </p:nvSpPr>
        <p:spPr>
          <a:xfrm>
            <a:off x="8385120" y="217620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Keep a timestamp for every verified entry.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8"/>
          <p:cNvSpPr/>
          <p:nvPr/>
        </p:nvSpPr>
        <p:spPr>
          <a:xfrm>
            <a:off x="594360" y="337428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9"/>
          <p:cNvSpPr/>
          <p:nvPr/>
        </p:nvSpPr>
        <p:spPr>
          <a:xfrm>
            <a:off x="795600" y="35751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0"/>
          <p:cNvSpPr/>
          <p:nvPr/>
        </p:nvSpPr>
        <p:spPr>
          <a:xfrm>
            <a:off x="868680" y="364392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DATA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1"/>
          <p:cNvSpPr/>
          <p:nvPr/>
        </p:nvSpPr>
        <p:spPr>
          <a:xfrm>
            <a:off x="1618560" y="35751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Central records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2"/>
          <p:cNvSpPr/>
          <p:nvPr/>
        </p:nvSpPr>
        <p:spPr>
          <a:xfrm>
            <a:off x="795600" y="413316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Store profiles and attendance in one database.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3"/>
          <p:cNvSpPr/>
          <p:nvPr/>
        </p:nvSpPr>
        <p:spPr>
          <a:xfrm>
            <a:off x="4389120" y="337428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4"/>
          <p:cNvSpPr/>
          <p:nvPr/>
        </p:nvSpPr>
        <p:spPr>
          <a:xfrm>
            <a:off x="4590360" y="35751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DDF7F8"/>
          </a:solidFill>
          <a:ln w="12700">
            <a:solidFill>
              <a:srgbClr val="DDF7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5"/>
          <p:cNvSpPr/>
          <p:nvPr/>
        </p:nvSpPr>
        <p:spPr>
          <a:xfrm>
            <a:off x="4663440" y="364392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71">
                <a:solidFill>
                  <a:srgbClr val="137B86"/>
                </a:solidFill>
                <a:effectLst/>
                <a:uFillTx/>
                <a:latin typeface="Aptos"/>
              </a:rPr>
              <a:t>ADMIN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6"/>
          <p:cNvSpPr/>
          <p:nvPr/>
        </p:nvSpPr>
        <p:spPr>
          <a:xfrm>
            <a:off x="5413320" y="35751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Management dashboard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7"/>
          <p:cNvSpPr/>
          <p:nvPr/>
        </p:nvSpPr>
        <p:spPr>
          <a:xfrm>
            <a:off x="4590360" y="413316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Manage students and review attendance status.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8"/>
          <p:cNvSpPr/>
          <p:nvPr/>
        </p:nvSpPr>
        <p:spPr>
          <a:xfrm>
            <a:off x="8183880" y="3374280"/>
            <a:ext cx="3428640" cy="162720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2E5"/>
            </a:solidFill>
            <a:round/>
          </a:ln>
          <a:effectLst>
            <a:outerShdw blurRad="38160" dist="50402" dir="2700000" algn="bl" rotWithShape="0">
              <a:srgbClr val="142428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9"/>
          <p:cNvSpPr/>
          <p:nvPr/>
        </p:nvSpPr>
        <p:spPr>
          <a:xfrm>
            <a:off x="8385120" y="3575160"/>
            <a:ext cx="658080" cy="310680"/>
          </a:xfrm>
          <a:prstGeom prst="roundRect">
            <a:avLst>
              <a:gd name="adj" fmla="val 17647"/>
            </a:avLst>
          </a:prstGeom>
          <a:solidFill>
            <a:srgbClr val="F2C14E"/>
          </a:solidFill>
          <a:ln w="12700">
            <a:solidFill>
              <a:srgbClr val="F2C1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0"/>
          <p:cNvSpPr/>
          <p:nvPr/>
        </p:nvSpPr>
        <p:spPr>
          <a:xfrm>
            <a:off x="8458200" y="3643920"/>
            <a:ext cx="51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71">
                <a:solidFill>
                  <a:srgbClr val="142428"/>
                </a:solidFill>
                <a:effectLst/>
                <a:uFillTx/>
                <a:latin typeface="Aptos"/>
              </a:rPr>
              <a:t>REPORT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1"/>
          <p:cNvSpPr/>
          <p:nvPr/>
        </p:nvSpPr>
        <p:spPr>
          <a:xfrm>
            <a:off x="9208080" y="35751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93238"/>
                </a:solidFill>
                <a:effectLst/>
                <a:uFillTx/>
                <a:latin typeface="Aptos"/>
              </a:rPr>
              <a:t>Reports &amp; analytics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2"/>
          <p:cNvSpPr/>
          <p:nvPr/>
        </p:nvSpPr>
        <p:spPr>
          <a:xfrm>
            <a:off x="8385120" y="4133160"/>
            <a:ext cx="2998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Review records and attendance percentages.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3"/>
          <p:cNvSpPr/>
          <p:nvPr/>
        </p:nvSpPr>
        <p:spPr>
          <a:xfrm>
            <a:off x="594360" y="5486400"/>
            <a:ext cx="10963440" cy="438480"/>
          </a:xfrm>
          <a:prstGeom prst="roundRect">
            <a:avLst>
              <a:gd name="adj" fmla="val 8333"/>
            </a:avLst>
          </a:prstGeom>
          <a:solidFill>
            <a:srgbClr val="142428"/>
          </a:solidFill>
          <a:ln w="12700">
            <a:solidFill>
              <a:srgbClr val="1424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4"/>
          <p:cNvSpPr/>
          <p:nvPr/>
        </p:nvSpPr>
        <p:spPr>
          <a:xfrm>
            <a:off x="868680" y="560520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Practical result: less time spent marking attendance, fewer manual errors, and clearer administrative visibility.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5"/>
          <p:cNvSpPr/>
          <p:nvPr/>
        </p:nvSpPr>
        <p:spPr>
          <a:xfrm>
            <a:off x="502920" y="6419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</a:rPr>
              <a:t>Face-based verification also helps reduce proxy attendance.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sldNum" idx="12"/>
          </p:nvPr>
        </p:nvSpPr>
        <p:spPr>
          <a:xfrm>
            <a:off x="11430000" y="6446520"/>
            <a:ext cx="27396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67F5D2-8875-4FE6-BAAB-2EDED96A2A0F}" type="slidenum">
              <a:rPr lang="en-US" sz="900" b="0" u="none" strike="noStrike">
                <a:solidFill>
                  <a:srgbClr val="62747A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 rot="1200000">
            <a:off x="8046720" y="-1005840"/>
            <a:ext cx="5303160" cy="5303160"/>
          </a:xfrm>
          <a:prstGeom prst="arc">
            <a:avLst>
              <a:gd name="adj1" fmla="val 16200000"/>
              <a:gd name="adj2" fmla="val 0"/>
            </a:avLst>
          </a:prstGeom>
          <a:noFill/>
          <a:ln w="50800">
            <a:solidFill>
              <a:srgbClr val="21C4D6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"/>
          <p:cNvSpPr/>
          <p:nvPr/>
        </p:nvSpPr>
        <p:spPr>
          <a:xfrm>
            <a:off x="9006840" y="137160"/>
            <a:ext cx="2377080" cy="2377080"/>
          </a:xfrm>
          <a:prstGeom prst="ellipse">
            <a:avLst/>
          </a:prstGeom>
          <a:solidFill>
            <a:srgbClr val="20363B"/>
          </a:solidFill>
          <a:ln w="254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"/>
          <p:cNvSpPr/>
          <p:nvPr/>
        </p:nvSpPr>
        <p:spPr>
          <a:xfrm rot="1800000">
            <a:off x="9418320" y="548640"/>
            <a:ext cx="1554120" cy="1554120"/>
          </a:xfrm>
          <a:prstGeom prst="arc">
            <a:avLst>
              <a:gd name="adj1" fmla="val 16200000"/>
              <a:gd name="adj2" fmla="val 0"/>
            </a:avLst>
          </a:prstGeom>
          <a:noFill/>
          <a:ln w="381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"/>
          <p:cNvSpPr/>
          <p:nvPr/>
        </p:nvSpPr>
        <p:spPr>
          <a:xfrm>
            <a:off x="9784080" y="1325880"/>
            <a:ext cx="822960" cy="360"/>
          </a:xfrm>
          <a:prstGeom prst="line">
            <a:avLst/>
          </a:prstGeom>
          <a:ln w="254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"/>
          <p:cNvSpPr/>
          <p:nvPr/>
        </p:nvSpPr>
        <p:spPr>
          <a:xfrm>
            <a:off x="713160" y="658440"/>
            <a:ext cx="2239920" cy="310680"/>
          </a:xfrm>
          <a:prstGeom prst="roundRect">
            <a:avLst>
              <a:gd name="adj" fmla="val 17647"/>
            </a:avLst>
          </a:prstGeom>
          <a:solidFill>
            <a:srgbClr val="21C4D6"/>
          </a:solidFill>
          <a:ln w="12700">
            <a:solidFill>
              <a:srgbClr val="21C4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5"/>
          <p:cNvSpPr/>
          <p:nvPr/>
        </p:nvSpPr>
        <p:spPr>
          <a:xfrm>
            <a:off x="786240" y="726840"/>
            <a:ext cx="2093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71">
                <a:solidFill>
                  <a:srgbClr val="142428"/>
                </a:solidFill>
                <a:effectLst/>
                <a:uFillTx/>
                <a:latin typeface="Aptos"/>
              </a:rPr>
              <a:t>SMART ATTENDANCE 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6"/>
          <p:cNvSpPr/>
          <p:nvPr/>
        </p:nvSpPr>
        <p:spPr>
          <a:xfrm>
            <a:off x="713160" y="1463040"/>
            <a:ext cx="6309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Thank You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7"/>
          <p:cNvSpPr/>
          <p:nvPr/>
        </p:nvSpPr>
        <p:spPr>
          <a:xfrm>
            <a:off x="713160" y="2541960"/>
            <a:ext cx="4754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21C4D6"/>
                </a:solidFill>
                <a:effectLst/>
                <a:uFillTx/>
                <a:latin typeface="Aptos"/>
              </a:rPr>
              <a:t>Questions &amp; Discussion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8"/>
          <p:cNvSpPr/>
          <p:nvPr/>
        </p:nvSpPr>
        <p:spPr>
          <a:xfrm>
            <a:off x="713160" y="3310200"/>
            <a:ext cx="58060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2D4D7"/>
                </a:solidFill>
                <a:effectLst/>
                <a:uFillTx/>
                <a:latin typeface="Aptos"/>
              </a:rPr>
              <a:t>A practical step toward faster, more reliable and accountable attendance management.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9"/>
          <p:cNvSpPr/>
          <p:nvPr/>
        </p:nvSpPr>
        <p:spPr>
          <a:xfrm>
            <a:off x="713160" y="4800600"/>
            <a:ext cx="5394960" cy="360"/>
          </a:xfrm>
          <a:prstGeom prst="line">
            <a:avLst/>
          </a:prstGeom>
          <a:ln w="12700">
            <a:solidFill>
              <a:srgbClr val="4C68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0"/>
          <p:cNvSpPr/>
          <p:nvPr/>
        </p:nvSpPr>
        <p:spPr>
          <a:xfrm>
            <a:off x="713160" y="50749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Camera  →  Recognition  →  Verification  →  Record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1"/>
          <p:cNvSpPr/>
          <p:nvPr/>
        </p:nvSpPr>
        <p:spPr>
          <a:xfrm>
            <a:off x="10789920" y="630936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C0C4"/>
                </a:solidFill>
                <a:effectLst/>
                <a:uFillTx/>
                <a:latin typeface="Aptos"/>
              </a:rPr>
              <a:t>10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886</Words>
  <Application>Microsoft Office PowerPoint</Application>
  <PresentationFormat>Widescreen</PresentationFormat>
  <Paragraphs>239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krishnasree mokkapati</cp:lastModifiedBy>
  <cp:revision>1</cp:revision>
  <dcterms:modified xsi:type="dcterms:W3CDTF">2026-10-02T15:49:30Z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2026-09-23T04:10:44Z</dcterms:created>
  <dc:creator>Harshitha Bollineni</dc:creator>
  <dc:description/>
  <dc:language>en-US</dc:language>
  <cp:lastModifiedBy>Harshitha Bollineni</cp:lastModifiedBy>
  <dcterms:modified xsi:type="dcterms:W3CDTF">2026-09-23T04:10:44Z</dcterms:modified>
  <cp:revision>1</cp:revision>
  <dc:subject>DSB and DB Project Presentation</dc:subject>
  <dc:title>Smart Attendance System Using Facial Recognition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